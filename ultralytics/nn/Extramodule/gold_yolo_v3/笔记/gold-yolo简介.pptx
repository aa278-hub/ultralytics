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15.xml"/><Relationship Id="rId2" Type="http://schemas.openxmlformats.org/officeDocument/2006/relationships/image" Target="../media/image5.png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553720"/>
            <a:ext cx="11688445" cy="42335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-180340" y="3486150"/>
            <a:ext cx="164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160*160*128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-93345" y="2700020"/>
            <a:ext cx="164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80*80*256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0" y="2087245"/>
            <a:ext cx="164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40*40*512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-93345" y="1474470"/>
            <a:ext cx="164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20*20*1024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1196340" y="4661535"/>
            <a:ext cx="347472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LOW-FAM</a:t>
            </a:r>
            <a:r>
              <a:rPr lang="zh-CN" altLang="en-US"/>
              <a:t>对齐</a:t>
            </a:r>
            <a:r>
              <a:rPr lang="en-US" altLang="zh-CN"/>
              <a:t>B4</a:t>
            </a:r>
            <a:endParaRPr lang="en-US" altLang="zh-CN"/>
          </a:p>
          <a:p>
            <a:r>
              <a:rPr lang="en-US" altLang="zh-CN"/>
              <a:t>B2</a:t>
            </a:r>
            <a:r>
              <a:rPr lang="zh-CN" altLang="en-US"/>
              <a:t>，</a:t>
            </a:r>
            <a:r>
              <a:rPr lang="en-US" altLang="zh-CN"/>
              <a:t>B3</a:t>
            </a:r>
            <a:r>
              <a:rPr lang="zh-CN" altLang="en-US"/>
              <a:t>高宽大，做池化操作</a:t>
            </a:r>
            <a:endParaRPr lang="zh-CN" altLang="en-US"/>
          </a:p>
          <a:p>
            <a:r>
              <a:rPr lang="en-US" altLang="zh-CN"/>
              <a:t>B5</a:t>
            </a:r>
            <a:r>
              <a:rPr lang="zh-CN" altLang="en-US"/>
              <a:t>高宽小</a:t>
            </a:r>
            <a:r>
              <a:rPr lang="en-US" altLang="zh-CN"/>
              <a:t> </a:t>
            </a:r>
            <a:r>
              <a:rPr lang="zh-CN" altLang="en-US"/>
              <a:t>，做线性插值操作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然后最后通过</a:t>
            </a:r>
            <a:r>
              <a:rPr lang="en-US" altLang="zh-CN"/>
              <a:t>Concat</a:t>
            </a:r>
            <a:r>
              <a:rPr lang="zh-CN" altLang="en-US"/>
              <a:t>操作在通道上相加，得到输出</a:t>
            </a:r>
            <a:r>
              <a:rPr lang="en-US" altLang="zh-CN"/>
              <a:t>40*40*1920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4852035" y="4661535"/>
            <a:ext cx="563753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LOW-IFM</a:t>
            </a:r>
            <a:r>
              <a:rPr lang="zh-CN" altLang="en-US"/>
              <a:t>进行信息融合，得到全局特征</a:t>
            </a:r>
            <a:endParaRPr lang="en-US" altLang="zh-CN"/>
          </a:p>
          <a:p>
            <a:r>
              <a:rPr lang="zh-CN" altLang="en-US"/>
              <a:t>第一个卷积将通道数转为一个中间通道</a:t>
            </a:r>
            <a:r>
              <a:rPr lang="en-US" altLang="zh-CN">
                <a:sym typeface="+mn-ea"/>
              </a:rPr>
              <a:t>embed_dim_p</a:t>
            </a:r>
            <a:endParaRPr lang="en-US" altLang="zh-CN"/>
          </a:p>
          <a:p>
            <a:r>
              <a:rPr lang="zh-CN" altLang="en-US"/>
              <a:t>然后进行</a:t>
            </a:r>
            <a:r>
              <a:rPr lang="en-US" altLang="zh-CN"/>
              <a:t>RepConv-blocks</a:t>
            </a:r>
            <a:r>
              <a:rPr lang="zh-CN" altLang="en-US"/>
              <a:t>做信息融合</a:t>
            </a:r>
            <a:endParaRPr lang="zh-CN" altLang="en-US"/>
          </a:p>
          <a:p>
            <a:r>
              <a:rPr lang="zh-CN" altLang="en-US"/>
              <a:t>最后再通过一个卷积将通道数转为</a:t>
            </a:r>
            <a:r>
              <a:rPr lang="en-US" altLang="zh-CN"/>
              <a:t>(C</a:t>
            </a:r>
            <a:r>
              <a:rPr lang="en-US" altLang="zh-CN" baseline="-25000"/>
              <a:t>B3</a:t>
            </a:r>
            <a:r>
              <a:rPr lang="en-US" altLang="zh-CN"/>
              <a:t>+C</a:t>
            </a:r>
            <a:r>
              <a:rPr lang="en-US" altLang="zh-CN" baseline="-25000"/>
              <a:t>B4</a:t>
            </a:r>
            <a:r>
              <a:rPr lang="en-US" altLang="zh-CN"/>
              <a:t>)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然后</a:t>
            </a:r>
            <a:r>
              <a:rPr lang="en-US" altLang="zh-CN"/>
              <a:t>Split</a:t>
            </a:r>
            <a:r>
              <a:rPr lang="zh-CN" altLang="en-US"/>
              <a:t>按照通道数划分，</a:t>
            </a:r>
            <a:endParaRPr lang="zh-CN" altLang="en-US"/>
          </a:p>
          <a:p>
            <a:r>
              <a:rPr lang="zh-CN" altLang="en-US"/>
              <a:t>得到全局信息，将全局信息注入</a:t>
            </a:r>
            <a:r>
              <a:rPr lang="en-US" altLang="zh-CN"/>
              <a:t>B3</a:t>
            </a:r>
            <a:r>
              <a:rPr lang="zh-CN" altLang="en-US"/>
              <a:t>，</a:t>
            </a:r>
            <a:r>
              <a:rPr lang="en-US" altLang="zh-CN"/>
              <a:t>B4</a:t>
            </a:r>
            <a:r>
              <a:rPr lang="zh-CN" altLang="en-US"/>
              <a:t>。</a:t>
            </a:r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4534535" y="4582160"/>
            <a:ext cx="0" cy="18815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273425" y="1474470"/>
            <a:ext cx="164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40*40*1920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5544185" y="1777365"/>
            <a:ext cx="2571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40*40*embed_dim_p</a:t>
            </a:r>
            <a:endParaRPr lang="en-US" altLang="zh-CN"/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5320030" y="2116455"/>
            <a:ext cx="433070" cy="1657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8298180" y="3244850"/>
            <a:ext cx="164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40*40*768</a:t>
            </a:r>
            <a:endParaRPr lang="en-US" altLang="zh-CN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8312150" y="2866390"/>
            <a:ext cx="476250" cy="3600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0489565" y="1630045"/>
            <a:ext cx="164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40*40*512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89565" y="3303270"/>
            <a:ext cx="164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40*40*256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07060"/>
            <a:ext cx="4589145" cy="41783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5316855"/>
            <a:ext cx="5024755" cy="1490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pc="100" dirty="0">
                <a:sym typeface="+mn-ea"/>
              </a:rPr>
              <a:t>注入并没有进行直接注入，而是进行了一个</a:t>
            </a:r>
            <a:r>
              <a:rPr lang="en-US" altLang="zh-CN" spc="100" dirty="0">
                <a:sym typeface="+mn-ea"/>
              </a:rPr>
              <a:t>LAF</a:t>
            </a:r>
            <a:r>
              <a:rPr lang="zh-CN" altLang="en-US" spc="100" dirty="0">
                <a:sym typeface="+mn-ea"/>
              </a:rPr>
              <a:t>操作。</a:t>
            </a:r>
            <a:endParaRPr lang="zh-CN" altLang="en-US" spc="100" dirty="0">
              <a:sym typeface="+mn-ea"/>
            </a:endParaRPr>
          </a:p>
          <a:p>
            <a:endParaRPr spc="100" dirty="0">
              <a:sym typeface="+mn-ea"/>
            </a:endParaRPr>
          </a:p>
          <a:p>
            <a:r>
              <a:rPr spc="100" dirty="0">
                <a:sym typeface="+mn-ea"/>
              </a:rPr>
              <a:t>LAF</a:t>
            </a:r>
            <a:r>
              <a:rPr spc="100" dirty="0">
                <a:sym typeface="+mn-ea"/>
              </a:rPr>
              <a:t>(</a:t>
            </a:r>
            <a:r>
              <a:rPr spc="100" dirty="0">
                <a:sym typeface="+mn-ea"/>
              </a:rPr>
              <a:t>lightweight adjacent layer fusion</a:t>
            </a:r>
            <a:r>
              <a:rPr spc="100" dirty="0">
                <a:sym typeface="+mn-ea"/>
              </a:rPr>
              <a:t>)</a:t>
            </a:r>
            <a:r>
              <a:rPr lang="zh-CN" spc="100" dirty="0">
                <a:sym typeface="+mn-ea"/>
              </a:rPr>
              <a:t>，即轻量的邻接层融合。</a:t>
            </a:r>
            <a:endParaRPr lang="zh-CN" spc="100" dirty="0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829935" y="0"/>
            <a:ext cx="4394200" cy="60407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4725035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B2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160*160*128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501140" y="4725035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B3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80*80*256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863215" y="4725035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B4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40*40*512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94615" y="193103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80*80*128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863215" y="198183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80*80*512</a:t>
            </a:r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2390775" y="1755775"/>
            <a:ext cx="775335" cy="4679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3002280" y="138747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80*80*896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390775" y="60706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80*80*256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011545" y="161353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80*80*256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233920" y="609219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40*40*256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8345170" y="124523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80*80*256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272145" y="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P3:80*80*256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38430"/>
            <a:ext cx="12157075" cy="407987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-93345" y="2882900"/>
            <a:ext cx="164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80*80*256</a:t>
            </a:r>
            <a:endParaRPr lang="en-US" altLang="zh-CN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-93345" y="2181225"/>
            <a:ext cx="164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40*40*512</a:t>
            </a:r>
            <a:endParaRPr lang="en-US" altLang="zh-CN"/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-188595" y="1479550"/>
            <a:ext cx="164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20*20*1024</a:t>
            </a:r>
            <a:endParaRPr lang="en-US" altLang="zh-CN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050290" y="4339590"/>
            <a:ext cx="3474720" cy="2155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HIGH-FAM</a:t>
            </a:r>
            <a:r>
              <a:rPr lang="zh-CN" altLang="en-US"/>
              <a:t>对齐</a:t>
            </a:r>
            <a:r>
              <a:rPr lang="en-US" altLang="zh-CN"/>
              <a:t>P5</a:t>
            </a:r>
            <a:endParaRPr lang="en-US" altLang="zh-CN"/>
          </a:p>
          <a:p>
            <a:r>
              <a:rPr lang="en-US" altLang="zh-CN"/>
              <a:t>P3</a:t>
            </a:r>
            <a:r>
              <a:rPr lang="zh-CN" altLang="en-US"/>
              <a:t>，</a:t>
            </a:r>
            <a:r>
              <a:rPr lang="en-US" altLang="zh-CN"/>
              <a:t>P4</a:t>
            </a:r>
            <a:r>
              <a:rPr lang="zh-CN" altLang="en-US"/>
              <a:t>高宽大，做池化操作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然后最后通过</a:t>
            </a:r>
            <a:r>
              <a:rPr lang="en-US" altLang="zh-CN"/>
              <a:t>Concat</a:t>
            </a:r>
            <a:r>
              <a:rPr lang="zh-CN" altLang="en-US"/>
              <a:t>操作在通道上相加，得到输出</a:t>
            </a:r>
            <a:r>
              <a:rPr lang="en-US" altLang="zh-CN"/>
              <a:t>2</a:t>
            </a:r>
            <a:r>
              <a:rPr lang="en-US" altLang="zh-CN"/>
              <a:t>0*20*1796</a:t>
            </a:r>
            <a:endParaRPr lang="en-US" altLang="zh-CN"/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3248025" y="584835"/>
            <a:ext cx="164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20*20*1796</a:t>
            </a:r>
            <a:endParaRPr lang="en-US" altLang="zh-CN"/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3326765" y="927100"/>
            <a:ext cx="285750" cy="2997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752975" y="4313555"/>
            <a:ext cx="7620" cy="1959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5050790" y="4339590"/>
            <a:ext cx="5653405" cy="2155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HIGH-IFM</a:t>
            </a:r>
            <a:r>
              <a:rPr lang="zh-CN" altLang="en-US"/>
              <a:t>进行信息融合，这里并没有像之前一样先卷积改变通道数，而是直接经过</a:t>
            </a:r>
            <a:r>
              <a:rPr lang="en-US" altLang="zh-CN"/>
              <a:t>Transformer</a:t>
            </a:r>
            <a:r>
              <a:rPr lang="zh-CN" altLang="en-US"/>
              <a:t>块（</a:t>
            </a:r>
            <a:r>
              <a:rPr lang="en-US" altLang="zh-CN"/>
              <a:t>Multi-Head Attention + Feed-Forward Network</a:t>
            </a:r>
            <a:r>
              <a:rPr lang="zh-CN" altLang="en-US"/>
              <a:t>），通道数会变成</a:t>
            </a:r>
            <a:r>
              <a:rPr lang="en-US" altLang="zh-CN"/>
              <a:t>embed_dim_n</a:t>
            </a:r>
            <a:r>
              <a:rPr lang="zh-CN" altLang="en-US"/>
              <a:t>（这个通道数和模型大小有关）。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最后在</a:t>
            </a:r>
            <a:r>
              <a:rPr lang="en-US" altLang="zh-CN"/>
              <a:t>Split</a:t>
            </a:r>
            <a:r>
              <a:rPr lang="zh-CN" altLang="en-US"/>
              <a:t>操作前有个卷积这里并没有体现出来，通过卷积将通道数转为</a:t>
            </a:r>
            <a:r>
              <a:rPr lang="en-US" altLang="zh-CN"/>
              <a:t>(</a:t>
            </a:r>
            <a:r>
              <a:rPr lang="en-US" altLang="zh-CN">
                <a:sym typeface="+mn-ea"/>
              </a:rPr>
              <a:t>C</a:t>
            </a:r>
            <a:r>
              <a:rPr lang="en-US" altLang="zh-CN" baseline="-25000">
                <a:sym typeface="+mn-ea"/>
              </a:rPr>
              <a:t>p4</a:t>
            </a:r>
            <a:r>
              <a:rPr lang="en-US" altLang="zh-CN">
                <a:sym typeface="+mn-ea"/>
              </a:rPr>
              <a:t>+C</a:t>
            </a:r>
            <a:r>
              <a:rPr lang="en-US" altLang="zh-CN" baseline="-25000">
                <a:sym typeface="+mn-ea"/>
              </a:rPr>
              <a:t>p5</a:t>
            </a:r>
            <a:r>
              <a:rPr lang="en-US" altLang="zh-CN"/>
              <a:t>)</a:t>
            </a:r>
            <a:endParaRPr lang="zh-CN" altLang="en-US"/>
          </a:p>
          <a:p>
            <a:endParaRPr lang="en-US" altLang="zh-CN"/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8258175" y="2684145"/>
            <a:ext cx="2512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20*20*embed_dim_n</a:t>
            </a:r>
            <a:endParaRPr lang="en-US" altLang="zh-CN"/>
          </a:p>
        </p:txBody>
      </p:sp>
      <p:cxnSp>
        <p:nvCxnSpPr>
          <p:cNvPr id="19" name="直接箭头连接符 18"/>
          <p:cNvCxnSpPr/>
          <p:nvPr/>
        </p:nvCxnSpPr>
        <p:spPr>
          <a:xfrm>
            <a:off x="9002395" y="2367915"/>
            <a:ext cx="526415" cy="3727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10704195" y="834390"/>
            <a:ext cx="1693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20*20*</a:t>
            </a:r>
            <a:endParaRPr lang="en-US" altLang="zh-CN">
              <a:sym typeface="+mn-ea"/>
            </a:endParaRPr>
          </a:p>
          <a:p>
            <a:pPr algn="ctr"/>
            <a:r>
              <a:rPr lang="en-US" altLang="zh-CN"/>
              <a:t>1024</a:t>
            </a:r>
            <a:endParaRPr lang="en-US" altLang="zh-CN"/>
          </a:p>
        </p:txBody>
      </p: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10770235" y="2838450"/>
            <a:ext cx="1693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20*20*</a:t>
            </a:r>
            <a:endParaRPr lang="en-US" altLang="zh-CN">
              <a:sym typeface="+mn-ea"/>
            </a:endParaRPr>
          </a:p>
          <a:p>
            <a:pPr algn="ctr"/>
            <a:r>
              <a:rPr lang="en-US" altLang="zh-CN">
                <a:sym typeface="+mn-ea"/>
              </a:rPr>
              <a:t>512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9225" y="0"/>
            <a:ext cx="3518535" cy="44018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829935" y="0"/>
            <a:ext cx="4394200" cy="60407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4650" y="4401820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P3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80*80*256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859280" y="4401820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P4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40*40*512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2884805" y="134493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</a:t>
            </a:r>
            <a:r>
              <a:rPr lang="en-US" altLang="zh-CN">
                <a:sym typeface="+mn-ea"/>
              </a:rPr>
              <a:t>*768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011545" y="161353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40*40*512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233920" y="608457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20*20*512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8345170" y="124523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40*40*512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272145" y="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N4:40*40*512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20370" y="143256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</a:t>
            </a:r>
            <a:r>
              <a:rPr lang="en-US" altLang="zh-CN">
                <a:sym typeface="+mn-ea"/>
              </a:rPr>
              <a:t>*256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767965" y="6540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</a:t>
            </a:r>
            <a:r>
              <a:rPr lang="en-US" altLang="zh-CN">
                <a:sym typeface="+mn-ea"/>
              </a:rPr>
              <a:t>*512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commondata" val="eyJoZGlkIjoiYjkxMTJjZjUwY2UzM2JmY2Q1ZTBlZDA1MzlhODI3Nm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890</Words>
  <Application>WPS 演示</Application>
  <PresentationFormat>宽屏</PresentationFormat>
  <Paragraphs>108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xiyang</dc:creator>
  <cp:lastModifiedBy>王斌</cp:lastModifiedBy>
  <cp:revision>37</cp:revision>
  <dcterms:created xsi:type="dcterms:W3CDTF">2023-08-09T12:44:00Z</dcterms:created>
  <dcterms:modified xsi:type="dcterms:W3CDTF">2024-01-22T11:16:59Z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2052-12.1.0.16120</vt:lpwstr>
  </property>
</Properties>
</file>