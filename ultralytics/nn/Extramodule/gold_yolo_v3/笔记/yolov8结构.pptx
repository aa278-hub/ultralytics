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921385"/>
            <a:ext cx="3543300" cy="8051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71685" y="-1216025"/>
            <a:ext cx="3173095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</a:t>
            </a:r>
            <a:r>
              <a:rPr lang="zh-CN" altLang="en-US"/>
              <a:t>图像尺寸（假设</a:t>
            </a:r>
            <a:r>
              <a:rPr lang="en-US" altLang="zh-CN"/>
              <a:t>w=r=1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输出：</a:t>
            </a:r>
            <a:r>
              <a:rPr lang="en-US" altLang="zh-CN"/>
              <a:t>640*640*3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543300" y="-479425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 - [-1, 1, Conv, [64, 3, 2]]  # 0-P1/2</a:t>
            </a:r>
            <a:r>
              <a:rPr lang="en-US"/>
              <a:t>       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728085" y="-1216025"/>
            <a:ext cx="5582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[from, repeats, module, args] </a:t>
            </a:r>
            <a:endParaRPr lang="en-US">
              <a:sym typeface="+mn-ea"/>
            </a:endParaRPr>
          </a:p>
          <a:p>
            <a:r>
              <a:rPr lang="en-US" altLang="zh-CN"/>
              <a:t>[</a:t>
            </a:r>
            <a:r>
              <a:rPr lang="zh-CN" altLang="en-US"/>
              <a:t>输入</a:t>
            </a:r>
            <a:r>
              <a:rPr lang="en-US" altLang="zh-CN"/>
              <a:t>, </a:t>
            </a:r>
            <a:r>
              <a:rPr lang="zh-CN" altLang="en-US"/>
              <a:t>重复次数</a:t>
            </a:r>
            <a:r>
              <a:rPr lang="en-US" altLang="zh-CN"/>
              <a:t>, </a:t>
            </a:r>
            <a:r>
              <a:rPr lang="zh-CN" altLang="en-US"/>
              <a:t>模块名</a:t>
            </a:r>
            <a:r>
              <a:rPr lang="en-US" altLang="zh-CN"/>
              <a:t>, </a:t>
            </a:r>
            <a:r>
              <a:rPr lang="zh-CN" altLang="en-US"/>
              <a:t>参数</a:t>
            </a:r>
            <a:r>
              <a:rPr lang="en-US" altLang="zh-CN"/>
              <a:t>] #</a:t>
            </a:r>
            <a:r>
              <a:rPr lang="zh-CN" altLang="en-US"/>
              <a:t>层数</a:t>
            </a:r>
            <a:r>
              <a:rPr lang="en-US" altLang="zh-CN"/>
              <a:t>-</a:t>
            </a:r>
            <a:r>
              <a:rPr lang="zh-CN" altLang="en-US"/>
              <a:t>层名</a:t>
            </a:r>
            <a:r>
              <a:rPr lang="en-US" altLang="zh-CN"/>
              <a:t>/</a:t>
            </a:r>
            <a:r>
              <a:rPr lang="zh-CN" altLang="en-US"/>
              <a:t>下采样倍数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97275" y="403225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- [-1, 1, Conv, [128, 3, 2]]  # 1-P2/4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48710" y="1359535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3, C2f, [128, True]]</a:t>
            </a:r>
            <a:r>
              <a:rPr lang="en-US"/>
              <a:t>  </a:t>
            </a:r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10434320" y="-479425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320*320*64  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48710" y="2133600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1, Conv, [256, 3, 2]]  # 3-P3/8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48710" y="2998470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6, C2f, [256, True]]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648710" y="3797300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1, Conv, [512, 3, 2]]  # 5-P4/16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48710" y="4540250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6, C2f, [512, True]]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48710" y="5202555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1, Conv, [1024, 3, 2]]  # 7-P5/32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648710" y="5822950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3, C2f, [1024, True]]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648710" y="6376670"/>
            <a:ext cx="367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- [-1, 1, SPPF, [1024, 5]]  # 9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684770" y="-487680"/>
            <a:ext cx="249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 </a:t>
            </a:r>
            <a:r>
              <a:rPr lang="en-US"/>
              <a:t>  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434320" y="403225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160*160*128  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434320" y="1359535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160*160*128  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434320" y="2133600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80*80*256  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434320" y="2998470"/>
            <a:ext cx="198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 80*80*256(</a:t>
            </a:r>
            <a:r>
              <a:rPr lang="zh-CN" altLang="en-US" b="1">
                <a:solidFill>
                  <a:srgbClr val="FF0000"/>
                </a:solidFill>
              </a:rPr>
              <a:t>输出</a:t>
            </a:r>
            <a:r>
              <a:rPr lang="en-US" b="1">
                <a:solidFill>
                  <a:srgbClr val="FF0000"/>
                </a:solidFill>
              </a:rPr>
              <a:t>)  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434320" y="3797300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40*40*512  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434320" y="4540250"/>
            <a:ext cx="198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</a:t>
            </a:r>
            <a:r>
              <a:rPr lang="en-US" b="1">
                <a:solidFill>
                  <a:srgbClr val="FF0000"/>
                </a:solidFill>
              </a:rPr>
              <a:t>40*40*512</a:t>
            </a:r>
            <a:r>
              <a:rPr lang="en-US" b="1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输出</a:t>
            </a:r>
            <a:r>
              <a:rPr lang="en-US" b="1">
                <a:solidFill>
                  <a:srgbClr val="FF0000"/>
                </a:solidFill>
                <a:sym typeface="+mn-ea"/>
              </a:rPr>
              <a:t>)</a:t>
            </a:r>
            <a:r>
              <a:rPr lang="en-US" b="1">
                <a:solidFill>
                  <a:srgbClr val="FF0000"/>
                </a:solidFill>
              </a:rPr>
              <a:t>  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34320" y="5202555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20*20*1024  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434320" y="5822950"/>
            <a:ext cx="188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20*20*1024  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434320" y="6376670"/>
            <a:ext cx="2061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 </a:t>
            </a:r>
            <a:r>
              <a:rPr lang="en-US"/>
              <a:t>  </a:t>
            </a:r>
            <a:r>
              <a:rPr lang="en-US" b="1">
                <a:solidFill>
                  <a:srgbClr val="FF0000"/>
                </a:solidFill>
              </a:rPr>
              <a:t>20*20*1024</a:t>
            </a:r>
            <a:r>
              <a:rPr lang="en-US" b="1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输出</a:t>
            </a:r>
            <a:r>
              <a:rPr lang="en-US" b="1">
                <a:solidFill>
                  <a:srgbClr val="FF0000"/>
                </a:solidFill>
                <a:sym typeface="+mn-ea"/>
              </a:rPr>
              <a:t>)</a:t>
            </a:r>
            <a:r>
              <a:rPr lang="en-US" b="1">
                <a:solidFill>
                  <a:srgbClr val="FF0000"/>
                </a:solidFill>
              </a:rPr>
              <a:t>  </a:t>
            </a:r>
            <a:endParaRPr lang="en-US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444615" cy="5019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44615" y="0"/>
            <a:ext cx="4307205" cy="440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  - [-1, 1, nn.Upsample, [None, 2, 'nearest']]</a:t>
            </a:r>
            <a:endParaRPr lang="zh-CN" altLang="en-US"/>
          </a:p>
          <a:p>
            <a:r>
              <a:rPr lang="zh-CN" altLang="en-US"/>
              <a:t>  - [[-1, 6], 1, Concat, [1]]  # cat backbone P4</a:t>
            </a:r>
            <a:endParaRPr lang="zh-CN" altLang="en-US"/>
          </a:p>
          <a:p>
            <a:r>
              <a:rPr lang="zh-CN" altLang="en-US"/>
              <a:t>  - [-1, 3, C2f, [512]]  # 12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- [-1, 1, nn.Upsample, [None, 2, 'nearest']]</a:t>
            </a:r>
            <a:endParaRPr lang="zh-CN" altLang="en-US"/>
          </a:p>
          <a:p>
            <a:r>
              <a:rPr lang="zh-CN" altLang="en-US"/>
              <a:t>  - [[-1, 4], 1, Concat, [1]]  # cat backbone P3</a:t>
            </a:r>
            <a:endParaRPr lang="zh-CN" altLang="en-US"/>
          </a:p>
          <a:p>
            <a:r>
              <a:rPr lang="zh-CN" altLang="en-US"/>
              <a:t>  - [-1, 3, C2f, [256]]  # 15 (P3/8-small)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- [-1, 1, Conv, [256, 3, 2]]</a:t>
            </a:r>
            <a:endParaRPr lang="zh-CN" altLang="en-US"/>
          </a:p>
          <a:p>
            <a:r>
              <a:rPr lang="zh-CN" altLang="en-US"/>
              <a:t>  - [[-1, 12], 1, Concat, [1]]  # cat head P4</a:t>
            </a:r>
            <a:endParaRPr lang="zh-CN" altLang="en-US"/>
          </a:p>
          <a:p>
            <a:r>
              <a:rPr lang="zh-CN" altLang="en-US"/>
              <a:t>  - [-1, 3, C2f, [512]]  # 18 (P4/16-medium)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- [-1, 1, Conv, [512, 3, 2]]</a:t>
            </a:r>
            <a:endParaRPr lang="zh-CN" altLang="en-US"/>
          </a:p>
          <a:p>
            <a:r>
              <a:rPr lang="zh-CN" altLang="en-US"/>
              <a:t>  - [[-1, 9], 1, Concat, [1]]  # cat head P5</a:t>
            </a:r>
            <a:endParaRPr lang="zh-CN" altLang="en-US"/>
          </a:p>
          <a:p>
            <a:r>
              <a:rPr lang="zh-CN" altLang="en-US"/>
              <a:t>  - [-1, 3, C2f, [1024]]  # 21 (P5/32-large)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99115" y="-287655"/>
            <a:ext cx="1492250" cy="4797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</a:t>
            </a:r>
            <a:r>
              <a:rPr lang="zh-CN" altLang="en-US"/>
              <a:t>输出</a:t>
            </a:r>
            <a:endParaRPr lang="zh-CN" altLang="en-US"/>
          </a:p>
          <a:p>
            <a:r>
              <a:rPr lang="en-US" altLang="zh-CN"/>
              <a:t>40*40*1024</a:t>
            </a:r>
            <a:endParaRPr lang="en-US" altLang="zh-CN"/>
          </a:p>
          <a:p>
            <a:r>
              <a:rPr lang="en-US" altLang="zh-CN"/>
              <a:t>40*40*1536</a:t>
            </a:r>
            <a:endParaRPr lang="en-US" altLang="zh-CN"/>
          </a:p>
          <a:p>
            <a:r>
              <a:rPr lang="en-US" altLang="zh-CN"/>
              <a:t>40*40*512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80*80*512</a:t>
            </a:r>
            <a:endParaRPr lang="en-US" altLang="zh-CN"/>
          </a:p>
          <a:p>
            <a:r>
              <a:rPr lang="en-US" altLang="zh-CN"/>
              <a:t>80*80*768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80*80*256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en-US" altLang="zh-CN"/>
              <a:t>40*40*256</a:t>
            </a:r>
            <a:endParaRPr lang="en-US" altLang="zh-CN"/>
          </a:p>
          <a:p>
            <a:r>
              <a:rPr lang="en-US" altLang="zh-CN"/>
              <a:t>40*40*768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40*40*512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20*20*512</a:t>
            </a:r>
            <a:endParaRPr lang="en-US" altLang="zh-CN"/>
          </a:p>
          <a:p>
            <a:r>
              <a:rPr lang="en-US" altLang="zh-CN"/>
              <a:t>20*20*1536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20*20*1024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24573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94070" y="327025"/>
            <a:ext cx="550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- [[15, 18, 21], 1, Detect, [nc]]  # Detect(P3, P4, P5)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94070" y="1000125"/>
            <a:ext cx="5506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Neck</a:t>
            </a:r>
            <a:r>
              <a:rPr lang="zh-CN" altLang="en-US"/>
              <a:t>部分在</a:t>
            </a:r>
            <a:r>
              <a:rPr lang="en-US" altLang="zh-CN"/>
              <a:t>yaml</a:t>
            </a:r>
            <a:r>
              <a:rPr lang="zh-CN" altLang="en-US"/>
              <a:t>文件中并没有过多体现，更多地体现在了</a:t>
            </a:r>
            <a:r>
              <a:rPr lang="en-US" altLang="zh-CN"/>
              <a:t>Detect</a:t>
            </a:r>
            <a:r>
              <a:rPr lang="zh-CN" altLang="en-US"/>
              <a:t>模块的源码部分，这里不进行够多赘述。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YjkxMTJjZjUwY2UzM2JmY2Q1ZTBlZDA1MzlhODI3N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WPS 演示</Application>
  <PresentationFormat>宽屏</PresentationFormat>
  <Paragraphs>86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xiyang</dc:creator>
  <cp:lastModifiedBy>王斌</cp:lastModifiedBy>
  <cp:revision>13</cp:revision>
  <dcterms:created xsi:type="dcterms:W3CDTF">2023-08-09T12:44:00Z</dcterms:created>
  <dcterms:modified xsi:type="dcterms:W3CDTF">2024-01-19T10:03:24Z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